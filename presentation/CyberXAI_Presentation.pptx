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B2A"/>
                </a:solidFill>
                <a:latin typeface="Arial"/>
              </a:rPr>
              <a:t>Class Distribution: Before vs After SMOTE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SMOTE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BENIGN</c:v>
                  </c:pt>
                  <c:pt idx="1">
                    <c:v>DoS Hulk</c:v>
                  </c:pt>
                  <c:pt idx="2">
                    <c:v>GoldenEye</c:v>
                  </c:pt>
                  <c:pt idx="3">
                    <c:v>Slowhttptest</c:v>
                  </c:pt>
                  <c:pt idx="4">
                    <c:v>slowloris</c:v>
                  </c:pt>
                  <c:pt idx="5">
                    <c:v>Heartbleed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333388</c:v>
                </c:pt>
                <c:pt idx="1">
                  <c:v>184858</c:v>
                </c:pt>
                <c:pt idx="2">
                  <c:v>8234</c:v>
                </c:pt>
                <c:pt idx="3">
                  <c:v>4399</c:v>
                </c:pt>
                <c:pt idx="4">
                  <c:v>4637</c:v>
                </c:pt>
                <c:pt idx="5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SMOTE</c:v>
                </c:pt>
              </c:strCache>
            </c:strRef>
          </c:tx>
          <c:spPr>
            <a:solidFill>
              <a:srgbClr val="0A93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BENIGN</c:v>
                  </c:pt>
                  <c:pt idx="1">
                    <c:v>DoS Hulk</c:v>
                  </c:pt>
                  <c:pt idx="2">
                    <c:v>GoldenEye</c:v>
                  </c:pt>
                  <c:pt idx="3">
                    <c:v>Slowhttptest</c:v>
                  </c:pt>
                  <c:pt idx="4">
                    <c:v>slowloris</c:v>
                  </c:pt>
                  <c:pt idx="5">
                    <c:v>Heartbleed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333388</c:v>
                </c:pt>
                <c:pt idx="1">
                  <c:v>333388</c:v>
                </c:pt>
                <c:pt idx="2">
                  <c:v>333388</c:v>
                </c:pt>
                <c:pt idx="3">
                  <c:v>333388</c:v>
                </c:pt>
                <c:pt idx="4">
                  <c:v>333388</c:v>
                </c:pt>
                <c:pt idx="5">
                  <c:v>333388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A93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Logistic Regression</c:v>
                  </c:pt>
                  <c:pt idx="1">
                    <c:v>Decision Tree</c:v>
                  </c:pt>
                  <c:pt idx="2">
                    <c:v>Random Forest</c:v>
                  </c:pt>
                  <c:pt idx="3">
                    <c:v>XGBoost</c:v>
                  </c:pt>
                  <c:pt idx="4">
                    <c:v>RF+XGB Ensemble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98.14</c:v>
                </c:pt>
                <c:pt idx="1">
                  <c:v>99.91</c:v>
                </c:pt>
                <c:pt idx="2">
                  <c:v>99.94</c:v>
                </c:pt>
                <c:pt idx="3">
                  <c:v>99.95</c:v>
                </c:pt>
                <c:pt idx="4">
                  <c:v>99.95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Score (%)</c:v>
                </c:pt>
              </c:strCache>
            </c:strRef>
          </c:tx>
          <c:spPr>
            <a:solidFill>
              <a:srgbClr val="0D1B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Logistic Regression</c:v>
                  </c:pt>
                  <c:pt idx="1">
                    <c:v>Decision Tree</c:v>
                  </c:pt>
                  <c:pt idx="2">
                    <c:v>Random Forest</c:v>
                  </c:pt>
                  <c:pt idx="3">
                    <c:v>XGBoost</c:v>
                  </c:pt>
                  <c:pt idx="4">
                    <c:v>RF+XGB Ensemble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98.22</c:v>
                </c:pt>
                <c:pt idx="1">
                  <c:v>99.91</c:v>
                </c:pt>
                <c:pt idx="2">
                  <c:v>99.94</c:v>
                </c:pt>
                <c:pt idx="3">
                  <c:v>99.95</c:v>
                </c:pt>
                <c:pt idx="4">
                  <c:v>99.95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1"/>
          <c:min val="96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Logistic Regression</c:v>
                  </c:pt>
                  <c:pt idx="1">
                    <c:v>Decision Tree</c:v>
                  </c:pt>
                  <c:pt idx="2">
                    <c:v>Random Forest</c:v>
                  </c:pt>
                  <c:pt idx="3">
                    <c:v>XGBoost</c:v>
                  </c:pt>
                  <c:pt idx="4">
                    <c:v>RF+XGB Ensemble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99.99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.05"/>
          <c:min val="99.95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457200"/>
            <a:ext cx="1097280" cy="1097280"/>
          </a:xfrm>
          <a:prstGeom prst="ellipse">
            <a:avLst/>
          </a:prstGeom>
          <a:solidFill>
            <a:srgbClr val="0A9396">
              <a:alpha val="30000"/>
            </a:srgbClr>
          </a:solidFill>
          <a:ln w="25400">
            <a:solidFill>
              <a:srgbClr val="0A93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640080"/>
            <a:ext cx="731520" cy="731520"/>
          </a:xfrm>
          <a:prstGeom prst="ellipse">
            <a:avLst/>
          </a:prstGeom>
          <a:solidFill>
            <a:srgbClr val="0A9396">
              <a:alpha val="60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73568" y="65836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Explainable AI Framework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Network Intrusion &amp; Phishing Detection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5486400" cy="3657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Ensemble Learning and SHAP Analysis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0A9396">
              <a:alpha val="40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9260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/ Explainability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4600" y="292608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0A9396">
              <a:alpha val="40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29260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+ XGBoost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292608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0A9396">
              <a:alpha val="40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9260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Analysis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12280" y="292608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0A9396">
              <a:alpha val="40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29260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Dual-Threat Detection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4389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Lab  ·  Research Article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274320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84048" y="1691640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ML Models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28600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intrusion &amp; phishing detectors achieve high accuracy but provide zero explanation — security analysts can't understand or trust predictions.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27832" y="86868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27832" y="868680"/>
            <a:ext cx="274320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27832" y="1005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🔀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37560" y="1691640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Detection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64992" y="228600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detection and phishing detection are treated as separate problems, requiring multiple independent systems and increasing operational complexity.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81344" y="86868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81344" y="868680"/>
            <a:ext cx="274320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81344" y="1005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91072" y="1691640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18504" y="228600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datasets are heavily imbalanced — Heartbleed attacks represent only 0.002% of traffic, making them nearly impossible to detect without special handling.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— Unified XAI Framework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828800" cy="10972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(CICIDS + PhiUSIIL)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94560" y="1417320"/>
            <a:ext cx="274320" cy="54864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68880" y="960120"/>
            <a:ext cx="1828800" cy="1097280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9601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SMOTE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417320"/>
            <a:ext cx="274320" cy="54864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960120"/>
            <a:ext cx="1828800" cy="1097280"/>
          </a:xfrm>
          <a:prstGeom prst="rect">
            <a:avLst/>
          </a:prstGeom>
          <a:solidFill>
            <a:srgbClr val="14525A"/>
          </a:solidFill>
          <a:ln w="12700">
            <a:solidFill>
              <a:srgbClr val="1452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9601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(RF + XGBoost)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417320"/>
            <a:ext cx="274320" cy="54864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960120"/>
            <a:ext cx="1828800" cy="10972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9601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5760" y="27889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Unified dual-threat pipeline (Intrusion + Phishing in one framework)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32644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RF + XGBoost soft-voting ensemble achieving 99.95% F1 on intrusion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3739896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SHAP TreeExplainer providing global &amp; local feature-level explanations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215384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Comprehensive evaluation against 4 baseline models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023360" cy="4572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CICIDS 2017 — Intrusion Detection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4023360" cy="457200"/>
          </a:xfrm>
          <a:prstGeom prst="rect">
            <a:avLst/>
          </a:prstGeom>
          <a:solidFill>
            <a:srgbClr val="EB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80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1280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692,703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755648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556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17556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231136"/>
            <a:ext cx="4023360" cy="457200"/>
          </a:xfrm>
          <a:prstGeom prst="rect">
            <a:avLst/>
          </a:prstGeom>
          <a:solidFill>
            <a:srgbClr val="EB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2311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0" y="22311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610,492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706624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7066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Classes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86000" y="27066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182112"/>
            <a:ext cx="4023360" cy="457200"/>
          </a:xfrm>
          <a:prstGeom prst="rect">
            <a:avLst/>
          </a:prstGeom>
          <a:solidFill>
            <a:srgbClr val="EB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1821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86000" y="31821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1,008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65760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SMOTE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86000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2,000,328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82296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822960"/>
            <a:ext cx="4023360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822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 PhiUSIIL — Phishing Detection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1280160"/>
            <a:ext cx="4023360" cy="457200"/>
          </a:xfrm>
          <a:prstGeom prst="rect">
            <a:avLst/>
          </a:prstGeom>
          <a:solidFill>
            <a:srgbClr val="EB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1280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1280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235,795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1755648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17556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0" y="17556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2231136"/>
            <a:ext cx="4023360" cy="457200"/>
          </a:xfrm>
          <a:prstGeom prst="rect">
            <a:avLst/>
          </a:prstGeom>
          <a:solidFill>
            <a:srgbClr val="EB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22311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0" y="22311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235,795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46320" y="2706624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27066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58000" y="27066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(Binary)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46320" y="3182112"/>
            <a:ext cx="4023360" cy="457200"/>
          </a:xfrm>
          <a:prstGeom prst="rect">
            <a:avLst/>
          </a:prstGeom>
          <a:solidFill>
            <a:srgbClr val="EB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31821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58000" y="31821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846320" y="365760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83480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858000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65176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05840"/>
            <a:ext cx="411480" cy="41148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98755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508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CICIDS 2017 + PhiUSIIL datasets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82296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822960"/>
            <a:ext cx="2651760" cy="73152"/>
          </a:xfrm>
          <a:prstGeom prst="rect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005840"/>
            <a:ext cx="411480" cy="411480"/>
          </a:xfrm>
          <a:prstGeom prst="ellipse">
            <a:avLst/>
          </a:prstGeom>
          <a:solidFill>
            <a:srgbClr val="1D6A72"/>
          </a:solidFill>
          <a:ln w="12700">
            <a:solidFill>
              <a:srgbClr val="1D6A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005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94760" y="98755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1508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nulls, duplicates, infinite values, StandardScaler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82296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822960"/>
            <a:ext cx="2651760" cy="73152"/>
          </a:xfrm>
          <a:prstGeom prst="rect">
            <a:avLst/>
          </a:prstGeom>
          <a:solidFill>
            <a:srgbClr val="14525A"/>
          </a:solidFill>
          <a:ln w="12700">
            <a:solidFill>
              <a:srgbClr val="1452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1005840"/>
            <a:ext cx="411480" cy="411480"/>
          </a:xfrm>
          <a:prstGeom prst="ellipse">
            <a:avLst/>
          </a:prstGeom>
          <a:solidFill>
            <a:srgbClr val="14525A"/>
          </a:solidFill>
          <a:ln w="12700">
            <a:solidFill>
              <a:srgbClr val="1452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005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98755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Balancing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72200" y="1508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2,000,328 balanced training samples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74320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743200"/>
            <a:ext cx="2651760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2926080"/>
            <a:ext cx="411480" cy="41148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926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290779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3429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LR, DT, RF, XGBoost + Ensemble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154680" y="274320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54680" y="2743200"/>
            <a:ext cx="2651760" cy="73152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91840" y="2926080"/>
            <a:ext cx="411480" cy="411480"/>
          </a:xfrm>
          <a:prstGeom prst="ellipse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2926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794760" y="290779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91840" y="3429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F1, AUC-ROC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35040" y="274320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2743200"/>
            <a:ext cx="2651760" cy="7315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72200" y="2926080"/>
            <a:ext cx="411480" cy="411480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2926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675120" y="290779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Analysis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172200" y="3429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Bar, Beeswarm &amp; Waterfall plots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Class Balancing (SMOTE)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77724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035040" y="777240"/>
            <a:ext cx="2834640" cy="4114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80760" y="777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Steps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144768" y="1280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Drop 1,008 missing values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44768" y="1828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Remove 80,962 duplicates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144768" y="23774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Replace 482 infinite values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44768" y="2926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StandardScaler normalization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144768" y="3474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SMOTE → 2,000,328 samples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44768" y="40233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All 6 classes balanced equally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 — Intrusion Detection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5303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777240"/>
          <a:ext cx="3108960" cy="2743200"/>
        </p:xfrm>
        <a:graphic>
          <a:graphicData uri="http://schemas.openxmlformats.org/drawingml/2006/table">
            <a:tbl>
              <a:tblPr/>
              <a:tblGrid>
                <a:gridCol w="1645920"/>
                <a:gridCol w="731520"/>
                <a:gridCol w="731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98.14%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98.22%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RF+XGB Ensemble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760720" y="3749040"/>
            <a:ext cx="3108960" cy="868680"/>
          </a:xfrm>
          <a:prstGeom prst="rect">
            <a:avLst/>
          </a:prstGeom>
          <a:solidFill>
            <a:srgbClr val="0A9396">
              <a:alpha val="15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852160" y="374904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Ensemble achieves 99.95% F1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outperforming LR baseline by 1.73%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 — Phishing Detection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5303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822960"/>
            <a:ext cx="3108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60720" y="822960"/>
            <a:ext cx="73152" cy="10515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0" y="84124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943600" y="13258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 of 5 models)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769864" y="2103120"/>
            <a:ext cx="3108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60720" y="2103120"/>
            <a:ext cx="73152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0" y="212140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943600" y="2606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79008" y="3383280"/>
            <a:ext cx="3108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60720" y="3383280"/>
            <a:ext cx="73152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0" y="34015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235,795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943600" y="3886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samples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Analysis — The Novelty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777240"/>
          </a:xfrm>
          <a:prstGeom prst="rect">
            <a:avLst/>
          </a:prstGeom>
          <a:solidFill>
            <a:srgbClr val="0A9396">
              <a:alpha val="20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0467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SHAP (SHapley Additive exPlanations) explains WHY the model made each prediction by calculating how much each feature pushed the result towards attack or benign.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2651760" cy="3108960"/>
          </a:xfrm>
          <a:prstGeom prst="rect">
            <a:avLst/>
          </a:prstGeom>
          <a:solidFill>
            <a:srgbClr val="112236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7830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Bar Plot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2907792"/>
            <a:ext cx="243230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features ranked by average SHAP impact. Shows which features matter most across ALL predictions.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72968" y="1691640"/>
            <a:ext cx="2651760" cy="3108960"/>
          </a:xfrm>
          <a:prstGeom prst="rect">
            <a:avLst/>
          </a:prstGeom>
          <a:solidFill>
            <a:srgbClr val="112236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72968" y="17830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🐝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264408" y="2423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Beeswarm Plot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82696" y="2907792"/>
            <a:ext cx="243230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= one sample. Red = high value, Blue = low. Shows how each feature affects the model across the entire dataset.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71616" y="1691640"/>
            <a:ext cx="2651760" cy="3108960"/>
          </a:xfrm>
          <a:prstGeom prst="rect">
            <a:avLst/>
          </a:prstGeom>
          <a:solidFill>
            <a:srgbClr val="112236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71616" y="17830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🌊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63056" y="2423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Plot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81344" y="2907792"/>
            <a:ext cx="243230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a SINGLE prediction step-by-step. Shows exactly which features pushed this specific connection towards attack.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Waterfall — Explaining a Single Prediction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54864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229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SHAP Waterfall (Intrusion Prediction)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0" y="1234440"/>
            <a:ext cx="1344168" cy="3200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Duration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315968" y="1234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26080" y="1664208"/>
            <a:ext cx="992124" cy="3200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642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Length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963924" y="16642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46020" y="2093976"/>
            <a:ext cx="480060" cy="3200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0939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Fwd Packets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71800" y="209397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926080" y="2523744"/>
            <a:ext cx="896112" cy="3200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52374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Bwd Packets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67912" y="252374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+0.28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926080" y="2953512"/>
            <a:ext cx="608076" cy="3200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9535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Bytes/s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79876" y="29535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+0.19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670048" y="3383280"/>
            <a:ext cx="256032" cy="3200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383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 Mean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971800" y="33832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-0.08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926080" y="3813048"/>
            <a:ext cx="352044" cy="3200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8130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features...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23844" y="381304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4389120"/>
            <a:ext cx="320040" cy="1828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43708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towards ATTACK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0" y="4389120"/>
            <a:ext cx="320040" cy="1828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84448" y="43708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towards BENIGN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43600" y="777240"/>
            <a:ext cx="2926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43600" y="777240"/>
            <a:ext cx="292608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89320" y="7772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35040" y="1325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Security analysts can see EXACTLY why a threat was flagged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35040" y="19476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Faster incident response — no more black box decisions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35040" y="256946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Builds trust between ML models and human operators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35040" y="319125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Audit trail for every prediction made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35040" y="38130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Identifies which network features are most exploited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691640"/>
          </a:xfrm>
          <a:prstGeom prst="rect">
            <a:avLst/>
          </a:prstGeom>
          <a:solidFill>
            <a:srgbClr val="112236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60120" y="9326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Performance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3716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RF+XGBoost ensemble achieved 99.95% F1 on intrusion and 100% on phishing, outperforming all 4 baselines.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114800" cy="1691640"/>
          </a:xfrm>
          <a:prstGeom prst="rect">
            <a:avLst/>
          </a:prstGeom>
          <a:solidFill>
            <a:srgbClr val="112236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9144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394960" y="9326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Dual-Threat Framework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94960" y="13716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pipeline handles both network intrusion and phishing detection, reducing operational complexity.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834640"/>
            <a:ext cx="4114800" cy="1691640"/>
          </a:xfrm>
          <a:prstGeom prst="rect">
            <a:avLst/>
          </a:prstGeom>
          <a:solidFill>
            <a:srgbClr val="112236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" y="29260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60120" y="294436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Explainability via SHAP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33832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is explained at feature level using global bar, beeswarm, and local waterfall plots.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834640"/>
            <a:ext cx="4114800" cy="1691640"/>
          </a:xfrm>
          <a:prstGeom prst="rect">
            <a:avLst/>
          </a:prstGeom>
          <a:solidFill>
            <a:srgbClr val="112236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29260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394960" y="294436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Contribution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94960" y="33832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4 key literature gaps — no existing paper combines dual-threat detection with SHAP explainability.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References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114800" cy="4114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77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Future Scope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Real-time deployment with Apache Kafka streaming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94767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LSTM / Attention models for sequential traffic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56946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Federated learning for privacy-preserving detection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19125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🦠  Extend to malware classification &amp; DDoS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8130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Adversarial robustness evaluation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777240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777240"/>
            <a:ext cx="420624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777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Key References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36592" y="129844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Gharib et al. — CICIDS 2017 ML Evaluation, IEEE Access 2019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36592" y="193852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Sahingoz et al. — Phishing URL Detection, ESWA 2019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36592" y="257860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Lundberg &amp; Lee — SHAP: Unified Model Interpretation, NeurIPS 2017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36592" y="321868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Guo et al. — LEMNA: Explaining Deep Learning Security, CCS 2018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36592" y="385876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Canadian Inst. for Cybersecurity — CICIDS 2017 Dataset, UNB 2017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0A9396">
              <a:alpha val="15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Target Journals: IEEE Access  ·  Computers &amp; Security  ·  Expert Systems with Applications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Explainable AI for Cyber Threat Detection</dc:title>
  <dc:subject>PptxGenJS Presentation</dc:subject>
  <dc:creator>PptxGenJS</dc:creator>
  <cp:lastModifiedBy>PptxGenJS</cp:lastModifiedBy>
  <cp:revision>1</cp:revision>
  <dcterms:created xsi:type="dcterms:W3CDTF">2026-03-29T15:44:37Z</dcterms:created>
  <dcterms:modified xsi:type="dcterms:W3CDTF">2026-03-29T15:44:37Z</dcterms:modified>
</cp:coreProperties>
</file>